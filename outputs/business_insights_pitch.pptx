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74C3C"/>
                </a:solidFill>
                <a:latin typeface="Arial"/>
              </a:defRPr>
            </a:pPr>
            <a:r>
              <a:t>DS SPRINT ASSESSMENT • SKILL BASED ASSESSMENT 2 (U23AD491)</a:t>
            </a:r>
          </a:p>
          <a:p>
            <a:pPr>
              <a:spcBef>
                <a:spcPts val="800"/>
              </a:spcBef>
              <a:defRPr sz="3800" b="1">
                <a:solidFill>
                  <a:srgbClr val="FFFFFF"/>
                </a:solidFill>
                <a:latin typeface="Arial"/>
              </a:defRPr>
            </a:pPr>
            <a:r>
              <a:t>E-Commerce Return Insight</a:t>
            </a:r>
          </a:p>
          <a:p>
            <a:pPr>
              <a:spcBef>
                <a:spcPts val="10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Understanding Root Causes, Quantifying Return Elasticity, and Recommending Interventions to Cut Avoidable Returns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Organization: ShopVista Commerce Pvt. Ltd. | Use Case 06: E-Commerce Return Insight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Dataset Notice: Synthetic Assessment Data (5,000 distinct orders analyzed) | Author: Candidate Data Scientist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74C3C"/>
                </a:solidFill>
                <a:latin typeface="Arial"/>
              </a:defRPr>
            </a:pPr>
            <a:r>
              <a:t>SHOPVISTA COMMERCE • USE CASE 06</a:t>
            </a:r>
          </a:p>
          <a:p>
            <a:pPr>
              <a:spcBef>
                <a:spcPts val="300"/>
              </a:spcBef>
              <a:defRPr sz="2200" b="1">
                <a:solidFill>
                  <a:srgbClr val="1B365D"/>
                </a:solidFill>
                <a:latin typeface="Arial"/>
              </a:defRPr>
            </a:pPr>
            <a:r>
              <a:t>Business Problem, Objectives, and Core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65D"/>
                </a:solidFill>
                <a:latin typeface="Arial"/>
              </a:defRPr>
            </a:pPr>
            <a:r>
              <a:t>12.78%</a:t>
            </a:r>
          </a:p>
          <a:p>
            <a:pPr>
              <a:spcBef>
                <a:spcPts val="2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Catalog Return Rate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639 total product returns out of 5,000 clean orders.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329184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74C3C"/>
                </a:solidFill>
                <a:latin typeface="Arial"/>
              </a:defRPr>
            </a:pPr>
            <a:r>
              <a:t>₹35.8L</a:t>
            </a:r>
          </a:p>
          <a:p>
            <a:pPr>
              <a:spcBef>
                <a:spcPts val="2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Gross Return Merchandise Value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Substantial working capital locked in reverse transit.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329184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980B9"/>
                </a:solidFill>
                <a:latin typeface="Arial"/>
              </a:defRPr>
            </a:pPr>
            <a:r>
              <a:t>28.3%</a:t>
            </a:r>
          </a:p>
          <a:p>
            <a:pPr>
              <a:spcBef>
                <a:spcPts val="2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Primary Reason: Sizing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181 returns directly caused by size/fit mismatches.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71323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Arial"/>
              </a:defRPr>
            </a:pPr>
            <a:r>
              <a:t>Executive Challenge &amp; Analytical Mandate</a:t>
            </a:r>
          </a:p>
          <a:p>
            <a:pPr>
              <a:spcBef>
                <a:spcPts val="600"/>
              </a:spcBef>
              <a:defRPr sz="1100">
                <a:solidFill>
                  <a:srgbClr val="111827"/>
                </a:solidFill>
                <a:latin typeface="Arial"/>
              </a:defRPr>
            </a:pPr>
            <a:r>
              <a:t>In e-commerce retailing, product returns represent an acute operational drag. Each return incurs two-way shipping fees, warehouse handling, item degradation, and inventory obsolescence. ShopVista Commerce commissioned this investigation to resolve five key questions: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  <a:latin typeface="Arial"/>
              </a:defRPr>
            </a:pPr>
            <a:r>
              <a:t>•  Category Concentration: </a:t>
            </a:r>
            <a:r>
              <a:rPr b="0">
                <a:solidFill>
                  <a:srgbClr val="111827"/>
                </a:solidFill>
              </a:rPr>
              <a:t>Which specific merchandise departments exhibit disproportionate return rates?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  <a:latin typeface="Arial"/>
              </a:defRPr>
            </a:pPr>
            <a:r>
              <a:t>•  Discount Elasticity: </a:t>
            </a:r>
            <a:r>
              <a:rPr b="0">
                <a:solidFill>
                  <a:srgbClr val="111827"/>
                </a:solidFill>
              </a:rPr>
              <a:t>Does aggressive price discounting induce return-prone impulse purchasing?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  <a:latin typeface="Arial"/>
              </a:defRPr>
            </a:pPr>
            <a:r>
              <a:t>•  Fulfillment Service Levels: </a:t>
            </a:r>
            <a:r>
              <a:rPr b="0">
                <a:solidFill>
                  <a:srgbClr val="111827"/>
                </a:solidFill>
              </a:rPr>
              <a:t>How severely do late logistics deliveries escalate return propensity?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  <a:latin typeface="Arial"/>
              </a:defRPr>
            </a:pPr>
            <a:r>
              <a:t>•  Merchant Disparities: </a:t>
            </a:r>
            <a:r>
              <a:rPr b="0">
                <a:solidFill>
                  <a:srgbClr val="111827"/>
                </a:solidFill>
              </a:rPr>
              <a:t>Are returns systematically concentrated among specific third-party marketplace sellers?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  <a:latin typeface="Arial"/>
              </a:defRPr>
            </a:pPr>
            <a:r>
              <a:t>•  Customer Lifecycle: </a:t>
            </a:r>
            <a:r>
              <a:rPr b="0">
                <a:solidFill>
                  <a:srgbClr val="111827"/>
                </a:solidFill>
              </a:rPr>
              <a:t>Do repeat, high-frequency patrons demonstrate greater retention compared to new shoppers?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74C3C"/>
                </a:solidFill>
                <a:latin typeface="Arial"/>
              </a:defRPr>
            </a:pPr>
            <a:r>
              <a:t>SHOPVISTA COMMERCE • USE CASE 06</a:t>
            </a:r>
          </a:p>
          <a:p>
            <a:pPr>
              <a:spcBef>
                <a:spcPts val="300"/>
              </a:spcBef>
              <a:defRPr sz="2200" b="1">
                <a:solidFill>
                  <a:srgbClr val="1B365D"/>
                </a:solidFill>
                <a:latin typeface="Arial"/>
              </a:defRPr>
            </a:pPr>
            <a:r>
              <a:t>Synthetic Dataset Architecture and Data Preparation Audit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188720"/>
                <a:gridCol w="2560320"/>
                <a:gridCol w="4144975"/>
              </a:tblGrid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File Name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Raw Rows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Clean Rows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Anomalies Detected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Cleaning &amp; Transformation Rule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orders.csv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5,050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50 exact dups; 18 extreme discounts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Deduplicated by order_id. Imputed 18 invalid discounts (&lt;0% or &gt;100%) with median (13.18%).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products.csv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Inconsistent sizing; 10 null brands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Harmonized casing/labels into standard enum (XS to XXL). Filled missing brands as Generic.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customers.csv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1,800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1,800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15 null regions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Imputed missing geographic regions with 'Unknown'. Verified customer history tiers.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delivery.csv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5 unparseable; 7 pre-order delivery 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Flagged 12 invalid records as 'Invalid Date'. Calculated delays only on 4,988 valid deliveries.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returns.csv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85 missing return reasons on returns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Imputed 'Unknown' for 85 missing returned reasons. Left non-returns as 'Not Returned' (0).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663440"/>
            <a:ext cx="10728655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  <a:latin typeface="Arial"/>
              </a:defRPr>
            </a:pPr>
            <a:r>
              <a:t>METHODOLOGICAL INTEGRITY &amp; LEAKAGE PREVENTION PRINCIPLES</a:t>
            </a:r>
          </a:p>
          <a:p>
            <a:pPr>
              <a:spcBef>
                <a:spcPts val="400"/>
              </a:spcBef>
              <a:defRPr sz="1000">
                <a:solidFill>
                  <a:srgbClr val="111827"/>
                </a:solidFill>
                <a:latin typeface="Arial"/>
              </a:defRPr>
            </a:pPr>
            <a:r>
              <a:t>1. Strict Join Grain: Merged 1:1 on order_id. Zero Cartesian duplication. Verified 5,000 distinct final transaction records.</a:t>
            </a:r>
            <a:br/>
            <a:r>
              <a:t>2. No Date Fabrication: Invalid delivery records were flagged and isolated rather than assigned arbitrary synthetic dates.</a:t>
            </a:r>
            <a:br/>
            <a:r>
              <a:t>3. Target Leakage Prevention: Outcome attributes (return_reason, return_date) were strictly isolated from predictive feature 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74C3C"/>
                </a:solidFill>
                <a:latin typeface="Arial"/>
              </a:defRPr>
            </a:pPr>
            <a:r>
              <a:t>SHOPVISTA COMMERCE • USE CASE 06</a:t>
            </a:r>
          </a:p>
          <a:p>
            <a:pPr>
              <a:spcBef>
                <a:spcPts val="300"/>
              </a:spcBef>
              <a:defRPr sz="2200" b="1">
                <a:solidFill>
                  <a:srgbClr val="1B365D"/>
                </a:solidFill>
                <a:latin typeface="Arial"/>
              </a:defRPr>
            </a:pPr>
            <a:r>
              <a:t>Finding 1: Apparel Sizing Mismatch is the Dominant Return Driver</a:t>
            </a:r>
          </a:p>
        </p:txBody>
      </p:sp>
      <p:pic>
        <p:nvPicPr>
          <p:cNvPr id="3" name="Picture 2" descr="eda_1_return_rate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149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15544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Arial"/>
              </a:defRPr>
            </a:pPr>
            <a:r>
              <a:t>Key Empirical Evidence &amp; Diagnostics</a:t>
            </a:r>
          </a:p>
          <a:p>
            <a:pPr>
              <a:spcBef>
                <a:spcPts val="600"/>
              </a:spcBef>
              <a:defRPr sz="1050" b="1">
                <a:solidFill>
                  <a:srgbClr val="E74C3C"/>
                </a:solidFill>
                <a:latin typeface="Arial"/>
              </a:defRPr>
            </a:pPr>
            <a:r>
              <a:t>• Apparel Outlier Severity: </a:t>
            </a:r>
            <a:r>
              <a:rPr b="0">
                <a:solidFill>
                  <a:srgbClr val="111827"/>
                </a:solidFill>
              </a:rPr>
              <a:t>Apparel return rate is 19.53% (198 returns / 1,014 orders), which is 52.8% higher than catalog average (12.78%).</a:t>
            </a:r>
          </a:p>
          <a:p>
            <a:pPr>
              <a:spcBef>
                <a:spcPts val="600"/>
              </a:spcBef>
              <a:defRPr sz="1050" b="1">
                <a:solidFill>
                  <a:srgbClr val="1B365D"/>
                </a:solidFill>
                <a:latin typeface="Arial"/>
              </a:defRPr>
            </a:pPr>
            <a:r>
              <a:t>• Footwear Alignment: </a:t>
            </a:r>
            <a:r>
              <a:rPr b="0">
                <a:solidFill>
                  <a:srgbClr val="111827"/>
                </a:solidFill>
              </a:rPr>
              <a:t>Footwear exhibits the second highest return rate at 14.15% (90 returns / 636 orders), confirming wearable categories suffer disproportionately.</a:t>
            </a:r>
          </a:p>
          <a:p>
            <a:pPr>
              <a:spcBef>
                <a:spcPts val="600"/>
              </a:spcBef>
              <a:defRPr sz="1050" b="1">
                <a:solidFill>
                  <a:srgbClr val="1B365D"/>
                </a:solidFill>
                <a:latin typeface="Arial"/>
              </a:defRPr>
            </a:pPr>
            <a:r>
              <a:t>• Non-Sized Resiliency: </a:t>
            </a:r>
            <a:r>
              <a:rPr b="0">
                <a:solidFill>
                  <a:srgbClr val="111827"/>
                </a:solidFill>
              </a:rPr>
              <a:t>Electronics (8.60%) and Beauty (8.57%) display return rates under 9%, demonstrating that standardized, specification-driven categories perform stably.</a:t>
            </a:r>
          </a:p>
          <a:p>
            <a:pPr>
              <a:spcBef>
                <a:spcPts val="600"/>
              </a:spcBef>
              <a:defRPr sz="1050" b="1">
                <a:solidFill>
                  <a:srgbClr val="E74C3C"/>
                </a:solidFill>
                <a:latin typeface="Arial"/>
              </a:defRPr>
            </a:pPr>
            <a:r>
              <a:t>• Root Cause Driver: </a:t>
            </a:r>
            <a:r>
              <a:rPr b="0">
                <a:solidFill>
                  <a:srgbClr val="111827"/>
                </a:solidFill>
              </a:rPr>
              <a:t>Customer return feedback shows 'Size/Fit Issue' accounts for 181 returns (28.33% of all returns)—the single largest category in the business.</a:t>
            </a:r>
          </a:p>
          <a:p>
            <a:pPr>
              <a:spcBef>
                <a:spcPts val="600"/>
              </a:spcBef>
              <a:defRPr sz="1050" b="1">
                <a:solidFill>
                  <a:srgbClr val="1B365D"/>
                </a:solidFill>
                <a:latin typeface="Arial"/>
              </a:defRPr>
            </a:pPr>
            <a:r>
              <a:t>• Business Implication: </a:t>
            </a:r>
            <a:r>
              <a:rPr b="0">
                <a:solidFill>
                  <a:srgbClr val="111827"/>
                </a:solidFill>
              </a:rPr>
              <a:t>Lack of standardized digital sizing and inconsistent brand tailoring force customers into 'bracketing' (ordering multiple sizes and returning ill-fitting items).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74C3C"/>
                </a:solidFill>
                <a:latin typeface="Arial"/>
              </a:defRPr>
            </a:pPr>
            <a:r>
              <a:t>SHOPVISTA COMMERCE • USE CASE 06</a:t>
            </a:r>
          </a:p>
          <a:p>
            <a:pPr>
              <a:spcBef>
                <a:spcPts val="300"/>
              </a:spcBef>
              <a:defRPr sz="2200" b="1">
                <a:solidFill>
                  <a:srgbClr val="1B365D"/>
                </a:solidFill>
                <a:latin typeface="Arial"/>
              </a:defRPr>
            </a:pPr>
            <a:r>
              <a:t>Finding 2: Fulfillment Delays Drive a 67.5% Surge in Return Propensity</a:t>
            </a:r>
          </a:p>
        </p:txBody>
      </p:sp>
      <p:pic>
        <p:nvPicPr>
          <p:cNvPr id="3" name="Picture 2" descr="eda_3_delivery_delay_vs_retur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2834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15544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Arial"/>
              </a:defRPr>
            </a:pPr>
            <a:r>
              <a:t>Fulfillment SLA Impact on Customer Retention</a:t>
            </a:r>
          </a:p>
          <a:p>
            <a:pPr>
              <a:spcBef>
                <a:spcPts val="600"/>
              </a:spcBef>
              <a:defRPr sz="1050" b="1">
                <a:solidFill>
                  <a:srgbClr val="E74C3C"/>
                </a:solidFill>
                <a:latin typeface="Arial"/>
              </a:defRPr>
            </a:pPr>
            <a:r>
              <a:t>• On-Time vs Late Disparity: </a:t>
            </a:r>
            <a:r>
              <a:rPr b="0">
                <a:solidFill>
                  <a:srgbClr val="111827"/>
                </a:solidFill>
              </a:rPr>
              <a:t>Deliveries on-time or early return at 11.04% (420 returns / 3,804 orders). Delayed deliveries spike to 18.50% (219 returns / 1,184 orders)—a 67.5% relative increase.</a:t>
            </a:r>
          </a:p>
          <a:p>
            <a:pPr>
              <a:spcBef>
                <a:spcPts val="600"/>
              </a:spcBef>
              <a:defRPr sz="1050" b="1">
                <a:solidFill>
                  <a:srgbClr val="E74C3C"/>
                </a:solidFill>
                <a:latin typeface="Arial"/>
              </a:defRPr>
            </a:pPr>
            <a:r>
              <a:t>• Nonlinear Delay Compounding: </a:t>
            </a:r>
            <a:r>
              <a:rPr b="0">
                <a:solidFill>
                  <a:srgbClr val="111827"/>
                </a:solidFill>
              </a:rPr>
              <a:t>While 1-day delays return at 14.83%, extreme delays of 5 days post-promise push returns to 24.34% (nearly 1 in every 4 packages rejected).</a:t>
            </a:r>
          </a:p>
          <a:p>
            <a:pPr>
              <a:spcBef>
                <a:spcPts val="600"/>
              </a:spcBef>
              <a:defRPr sz="1050" b="1">
                <a:solidFill>
                  <a:srgbClr val="1B365D"/>
                </a:solidFill>
                <a:latin typeface="Arial"/>
              </a:defRPr>
            </a:pPr>
            <a:r>
              <a:t>• Second Largest Return Reason: </a:t>
            </a:r>
            <a:r>
              <a:rPr b="0">
                <a:solidFill>
                  <a:srgbClr val="111827"/>
                </a:solidFill>
              </a:rPr>
              <a:t>'Late Delivery' is cited as the primary reason in 135 returned orders (21.13% of total returns), confirming logistics friction directly provokes cancellation.</a:t>
            </a:r>
          </a:p>
          <a:p>
            <a:pPr>
              <a:spcBef>
                <a:spcPts val="600"/>
              </a:spcBef>
              <a:defRPr sz="1050" b="1">
                <a:solidFill>
                  <a:srgbClr val="1B365D"/>
                </a:solidFill>
                <a:latin typeface="Arial"/>
              </a:defRPr>
            </a:pPr>
            <a:r>
              <a:t>• Customer Need-State Decay: </a:t>
            </a:r>
            <a:r>
              <a:rPr b="0">
                <a:solidFill>
                  <a:srgbClr val="111827"/>
                </a:solidFill>
              </a:rPr>
              <a:t>When merchandise arrives after the expected window, the customer's immediate need or gifting occasion expires, or alternative items are purchased locally.</a:t>
            </a:r>
          </a:p>
          <a:p>
            <a:pPr>
              <a:spcBef>
                <a:spcPts val="600"/>
              </a:spcBef>
              <a:defRPr sz="1050" b="1">
                <a:solidFill>
                  <a:srgbClr val="1B365D"/>
                </a:solidFill>
                <a:latin typeface="Arial"/>
              </a:defRPr>
            </a:pPr>
            <a:r>
              <a:t>• Actionable Takeaway: </a:t>
            </a:r>
            <a:r>
              <a:rPr b="0">
                <a:solidFill>
                  <a:srgbClr val="111827"/>
                </a:solidFill>
              </a:rPr>
              <a:t>Tightening courier dispatch SLA thresholds and improving tracking updates can salvage up to 80+ avoidable returns annually.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74C3C"/>
                </a:solidFill>
                <a:latin typeface="Arial"/>
              </a:defRPr>
            </a:pPr>
            <a:r>
              <a:t>SHOPVISTA COMMERCE • USE CASE 06</a:t>
            </a:r>
          </a:p>
          <a:p>
            <a:pPr>
              <a:spcBef>
                <a:spcPts val="300"/>
              </a:spcBef>
              <a:defRPr sz="2200" b="1">
                <a:solidFill>
                  <a:srgbClr val="1B365D"/>
                </a:solidFill>
                <a:latin typeface="Arial"/>
              </a:defRPr>
            </a:pPr>
            <a:r>
              <a:t>Commercial Dynamics: Discount Elasticity and Seller Performance</a:t>
            </a:r>
          </a:p>
        </p:txBody>
      </p:sp>
      <p:pic>
        <p:nvPicPr>
          <p:cNvPr id="3" name="Picture 2" descr="eda_2_discount_vs_retur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2895600"/>
          </a:xfrm>
          <a:prstGeom prst="rect">
            <a:avLst/>
          </a:prstGeom>
        </p:spPr>
      </p:pic>
      <p:pic>
        <p:nvPicPr>
          <p:cNvPr id="4" name="Picture 3" descr="eda_4_seller_return_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2606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663440"/>
            <a:ext cx="10728655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  <a:latin typeface="Arial"/>
              </a:defRPr>
            </a:pPr>
            <a:r>
              <a:t>DIAGNOSTIC SYNTHESIS: COMMERCIAL INCENTIVES &amp; MERCHANT QUALITY</a:t>
            </a:r>
          </a:p>
          <a:p>
            <a:pPr>
              <a:spcBef>
                <a:spcPts val="400"/>
              </a:spcBef>
              <a:defRPr sz="1000">
                <a:solidFill>
                  <a:srgbClr val="111827"/>
                </a:solidFill>
                <a:latin typeface="Arial"/>
              </a:defRPr>
            </a:pPr>
            <a:r>
              <a:t>• Discount Propensity Gradient: Return rates steadily escalate with promotional depth—from 10.74% in 0-10% discount orders, to 12.97% (10-20%), 14.93% (20-30%), and 16.72% in 30-50% discounts. Deep markdowns attract impulse buyers with weaker purchase commitment.</a:t>
            </a:r>
            <a:br/>
            <a:r>
              <a:t>• Chronic Seller Outliers: Substantial seller disparity exists. High-volume partners SELLER_015 (25.69% returns across 109 orders) and SELLER_053 (23.62% returns across 127 orders) return at twice the baseline average, indicating catalog listing misrepresentation or defect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74C3C"/>
                </a:solidFill>
                <a:latin typeface="Arial"/>
              </a:defRPr>
            </a:pPr>
            <a:r>
              <a:t>SHOPVISTA COMMERCE • USE CASE 06</a:t>
            </a:r>
          </a:p>
          <a:p>
            <a:pPr>
              <a:spcBef>
                <a:spcPts val="300"/>
              </a:spcBef>
              <a:defRPr sz="2200" b="1">
                <a:solidFill>
                  <a:srgbClr val="1B365D"/>
                </a:solidFill>
                <a:latin typeface="Arial"/>
              </a:defRPr>
            </a:pPr>
            <a:r>
              <a:t>Machine Learning Diagnostic: Balanced Random Forest Model (t=0.45)</a:t>
            </a:r>
          </a:p>
        </p:txBody>
      </p:sp>
      <p:pic>
        <p:nvPicPr>
          <p:cNvPr id="3" name="Picture 2" descr="ml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480560" cy="3733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0" y="1371600"/>
            <a:ext cx="59436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0" y="150876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Final Model Configuration &amp; Evaluation Truth (Threshold = 0.45)</a:t>
            </a:r>
          </a:p>
          <a:p>
            <a:pPr>
              <a:spcBef>
                <a:spcPts val="400"/>
              </a:spcBef>
              <a:defRPr sz="950" b="1">
                <a:solidFill>
                  <a:srgbClr val="1B365D"/>
                </a:solidFill>
                <a:latin typeface="Arial"/>
              </a:defRPr>
            </a:pPr>
            <a:r>
              <a:t>• Prediction Time &amp; Leakage Prevention: </a:t>
            </a:r>
            <a:r>
              <a:rPr b="0">
                <a:solidFill>
                  <a:srgbClr val="111827"/>
                </a:solidFill>
              </a:rPr>
              <a:t>Strictly pre-dispatch. Actual delivery delay, transit days, and post-outcome return fields are completely excluded to eliminate target leakage.</a:t>
            </a:r>
          </a:p>
          <a:p>
            <a:pPr>
              <a:spcBef>
                <a:spcPts val="400"/>
              </a:spcBef>
              <a:defRPr sz="950" b="1">
                <a:solidFill>
                  <a:srgbClr val="1B365D"/>
                </a:solidFill>
                <a:latin typeface="Arial"/>
              </a:defRPr>
            </a:pPr>
            <a:r>
              <a:t>• Final Architecture &amp; Configuration: </a:t>
            </a:r>
            <a:r>
              <a:rPr b="0">
                <a:solidFill>
                  <a:srgbClr val="111827"/>
                </a:solidFill>
              </a:rPr>
              <a:t>Balanced Random Forest (250 trees, max depth 8, min leaf 4, class_weight='balanced') fitted inside a ColumnTransformer preprocessing pipeline.</a:t>
            </a:r>
          </a:p>
          <a:p>
            <a:pPr>
              <a:spcBef>
                <a:spcPts val="400"/>
              </a:spcBef>
              <a:defRPr sz="950" b="1">
                <a:solidFill>
                  <a:srgbClr val="1B365D"/>
                </a:solidFill>
                <a:latin typeface="Arial"/>
              </a:defRPr>
            </a:pPr>
            <a:r>
              <a:t>• Verified Test Metrics (t=0.45): </a:t>
            </a:r>
            <a:r>
              <a:rPr b="0">
                <a:solidFill>
                  <a:srgbClr val="111827"/>
                </a:solidFill>
              </a:rPr>
              <a:t>Accuracy: 68.50% | Precision: 17.87% | Recall: 40.62% | F1-Score: 0.2482 | ROC-AUC: 0.5607 | PR-AUC: 0.1572 on untouched holdout test set (N=1,000).</a:t>
            </a:r>
          </a:p>
          <a:p>
            <a:pPr>
              <a:spcBef>
                <a:spcPts val="400"/>
              </a:spcBef>
              <a:defRPr sz="950" b="1">
                <a:solidFill>
                  <a:srgbClr val="1B365D"/>
                </a:solidFill>
                <a:latin typeface="Arial"/>
              </a:defRPr>
            </a:pPr>
            <a:r>
              <a:t>• Confusion Matrix Truth: </a:t>
            </a:r>
            <a:r>
              <a:rPr b="0">
                <a:solidFill>
                  <a:srgbClr val="111827"/>
                </a:solidFill>
              </a:rPr>
              <a:t>TN = 633, FP = 239, FN = 76, TP = 52. Successfully captures 52 out of 128 actual returns, compared to 0 for the naive majority baseline (0.0% recall).</a:t>
            </a:r>
          </a:p>
          <a:p>
            <a:pPr>
              <a:spcBef>
                <a:spcPts val="400"/>
              </a:spcBef>
              <a:defRPr sz="950" b="1">
                <a:solidFill>
                  <a:srgbClr val="1B365D"/>
                </a:solidFill>
                <a:latin typeface="Arial"/>
              </a:defRPr>
            </a:pPr>
            <a:r>
              <a:t>• Honest Data Science Assessment: </a:t>
            </a:r>
            <a:r>
              <a:rPr b="0">
                <a:solidFill>
                  <a:srgbClr val="111827"/>
                </a:solidFill>
              </a:rPr>
              <a:t>Precision is bounded at 17.87% due to 12.78% base prevalence and the fact that no pre-dispatch cohort exceeds ~26% return rate without post-delivery leakage. Fabricating higher scores would violate data integrity.</a:t>
            </a:r>
          </a:p>
          <a:p>
            <a:pPr>
              <a:spcBef>
                <a:spcPts val="400"/>
              </a:spcBef>
              <a:defRPr sz="950" b="1">
                <a:solidFill>
                  <a:srgbClr val="1B365D"/>
                </a:solidFill>
                <a:latin typeface="Arial"/>
              </a:defRPr>
            </a:pPr>
            <a:r>
              <a:t>• Operational Utility at Scale: </a:t>
            </a:r>
            <a:r>
              <a:rPr b="0">
                <a:solidFill>
                  <a:srgbClr val="111827"/>
                </a:solidFill>
              </a:rPr>
              <a:t>Provides high practical utility for targeted pre-shipping size confirmations on Apparel orders and selecting priority couriers before warehouse dispatch.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74C3C"/>
                </a:solidFill>
                <a:latin typeface="Arial"/>
              </a:defRPr>
            </a:pPr>
            <a:r>
              <a:t>SHOPVISTA COMMERCE • USE CASE 06</a:t>
            </a:r>
          </a:p>
          <a:p>
            <a:pPr>
              <a:spcBef>
                <a:spcPts val="300"/>
              </a:spcBef>
              <a:defRPr sz="2200" b="1">
                <a:solidFill>
                  <a:srgbClr val="1B365D"/>
                </a:solidFill>
                <a:latin typeface="Arial"/>
              </a:defRPr>
            </a:pPr>
            <a:r>
              <a:t>Business Implications &amp; Areas Requiring Management Attention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74C3C"/>
                </a:solidFill>
                <a:latin typeface="Arial"/>
              </a:defRPr>
            </a:pPr>
            <a:r>
              <a:t>Reverse Logistics Margin Drag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Arial"/>
              </a:defRPr>
            </a:pPr>
            <a:r>
              <a:t>Across 639 returned orders, reverse freight, restocking, and packaging consume an estimated ₹9.5L–₹12.8L annually in operational overhead, eroding net EBITDA margins.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578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55448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Apparel Sizing Dissatisfaction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Arial"/>
              </a:defRPr>
            </a:pPr>
            <a:r>
              <a:t>With 19.53% of Apparel returned, customer frustration with fit consistency reduces long-term customer lifetime value (LTV) and drives churn among first-time shoppers.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578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980B9"/>
                </a:solidFill>
                <a:latin typeface="Arial"/>
              </a:defRPr>
            </a:pPr>
            <a:r>
              <a:t>Fulfillment Courier SLA Inefficiencies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Arial"/>
              </a:defRPr>
            </a:pPr>
            <a:r>
              <a:t>1,184 packages arrived past promised dates, triggering 219 returns. Courier partners failing SLA guidelines directly inflate return volumes and customer support tickets.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840480"/>
            <a:ext cx="52578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0233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35400"/>
                </a:solidFill>
                <a:latin typeface="Arial"/>
              </a:defRPr>
            </a:pPr>
            <a:r>
              <a:t>Marketplace Seller Quality Governance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Arial"/>
              </a:defRPr>
            </a:pPr>
            <a:r>
              <a:t>A small cohort of marketplace sellers exhibit return rates exceeding 25%. Without quality gating, poor vendor catalogs degrade overall ShopVista platform trust.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74C3C"/>
                </a:solidFill>
                <a:latin typeface="Arial"/>
              </a:defRPr>
            </a:pPr>
            <a:r>
              <a:t>SHOPVISTA COMMERCE • USE CASE 06</a:t>
            </a:r>
          </a:p>
          <a:p>
            <a:pPr>
              <a:spcBef>
                <a:spcPts val="300"/>
              </a:spcBef>
              <a:defRPr sz="2200" b="1">
                <a:solidFill>
                  <a:srgbClr val="1B365D"/>
                </a:solidFill>
                <a:latin typeface="Arial"/>
              </a:defRPr>
            </a:pPr>
            <a:r>
              <a:t>Practical, Data-Driven Recommendations to Reduce Avoidable Returns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B365D"/>
                </a:solidFill>
                <a:latin typeface="Arial"/>
              </a:defRPr>
            </a:pPr>
            <a:r>
              <a:t>WORKSTREAM 1: PRODUCT &amp; SIZING INTELLIGENCE</a:t>
            </a:r>
          </a:p>
          <a:p>
            <a:pPr>
              <a:spcBef>
                <a:spcPts val="4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Standardize Apparel Fit &amp; Virtual Size Recommenders</a:t>
            </a:r>
          </a:p>
          <a:p>
            <a:pPr>
              <a:spcBef>
                <a:spcPts val="800"/>
              </a:spcBef>
              <a:defRPr sz="1000">
                <a:solidFill>
                  <a:srgbClr val="111827"/>
                </a:solidFill>
                <a:latin typeface="Arial"/>
              </a:defRPr>
            </a:pPr>
            <a:r>
              <a:t>• Deploy an interactive size recommendation widget on product pages using customer height/weight.</a:t>
            </a:r>
            <a:br/>
            <a:r>
              <a:t>• Mandate rigorous, standardized measurement charts across all vendors (chest, waist, inseam in cm).</a:t>
            </a:r>
            <a:br/>
            <a:r>
              <a:t>• Encourage verified customer size reviews ('Fits True to Size' badge) to prevent bracketing.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4290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74C3C"/>
                </a:solidFill>
                <a:latin typeface="Arial"/>
              </a:defRPr>
            </a:pPr>
            <a:r>
              <a:t>WORKSTREAM 2: LOGISTICS &amp; FULFILLMENT RIGOR</a:t>
            </a:r>
          </a:p>
          <a:p>
            <a:pPr>
              <a:spcBef>
                <a:spcPts val="4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Enforce Courier Dispatch SLAs &amp; Dynamic In-Transit Alerts</a:t>
            </a:r>
          </a:p>
          <a:p>
            <a:pPr>
              <a:spcBef>
                <a:spcPts val="800"/>
              </a:spcBef>
              <a:defRPr sz="1000">
                <a:solidFill>
                  <a:srgbClr val="111827"/>
                </a:solidFill>
                <a:latin typeface="Arial"/>
              </a:defRPr>
            </a:pPr>
            <a:r>
              <a:t>• Impose contractual SLA penalties on courier partners exceeding promised delivery dates.</a:t>
            </a:r>
            <a:br/>
            <a:r>
              <a:t>• Trigger proactive SMS/WhatsApp tracking updates with automated delay compensation credits.</a:t>
            </a:r>
            <a:br/>
            <a:r>
              <a:t>• Prioritize expedited fulfillment routing for high-value orders and repeat customers.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4290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980B9"/>
                </a:solidFill>
                <a:latin typeface="Arial"/>
              </a:defRPr>
            </a:pPr>
            <a:r>
              <a:t>WORKSTREAM 3: COMMERCIAL &amp; SELLER GOVERNANCE</a:t>
            </a:r>
          </a:p>
          <a:p>
            <a:pPr>
              <a:spcBef>
                <a:spcPts val="4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Seller Performance Gating &amp; Discount Return Reserves</a:t>
            </a:r>
          </a:p>
          <a:p>
            <a:pPr>
              <a:spcBef>
                <a:spcPts val="800"/>
              </a:spcBef>
              <a:defRPr sz="1000">
                <a:solidFill>
                  <a:srgbClr val="111827"/>
                </a:solidFill>
                <a:latin typeface="Arial"/>
              </a:defRPr>
            </a:pPr>
            <a:r>
              <a:t>• Establish a 20% return rate threshold: place repeat offenders (SELLER_015, SELLER_053) under catalog audit.</a:t>
            </a:r>
            <a:br/>
            <a:r>
              <a:t>• Require high-return sellers to finance reverse logistics surcharges for defective/misdescribed goods.</a:t>
            </a:r>
            <a:br/>
            <a:r>
              <a:t>• Implement a structured return reserve on clearance discounts (&gt;30%) to safeguard margins.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74C3C"/>
                </a:solidFill>
                <a:latin typeface="Arial"/>
              </a:defRPr>
            </a:pPr>
            <a:r>
              <a:t>SHOPVISTA COMMERCE • USE CASE 06</a:t>
            </a:r>
          </a:p>
          <a:p>
            <a:pPr>
              <a:spcBef>
                <a:spcPts val="300"/>
              </a:spcBef>
              <a:defRPr sz="2200" b="1">
                <a:solidFill>
                  <a:srgbClr val="1B365D"/>
                </a:solidFill>
                <a:latin typeface="Arial"/>
              </a:defRPr>
            </a:pPr>
            <a:r>
              <a:t>Executive Conclusion &amp; Operational Scorecard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Arial"/>
              </a:defRPr>
            </a:pPr>
            <a:r>
              <a:t>Summary Assessment &amp; Strategic Roadmap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Arial"/>
              </a:defRPr>
            </a:pPr>
            <a:r>
              <a:t>1. Comprehensive Empirical Diagnostics:</a:t>
            </a:r>
            <a:br/>
            <a:r>
              <a:t>   Analysis of 5,000 clean transactions confirmed that product returns at ShopVista are highly concentrated in wearable merchandise (Apparel at 19.53%) and fulfillment-delayed shipments (18.50% return rate for late orders).</a:t>
            </a:r>
            <a:br/>
            <a:br/>
            <a:r>
              <a:t>2. High-Impact Interventions:</a:t>
            </a:r>
            <a:br/>
            <a:r>
              <a:t>   Targeting sizing accuracy and courier SLA fulfillment addresses the two largest cited return drivers (Size/Fit: 28.33%, Late Delivery: 21.13%), accounting for nearly half of all returns on the platform.</a:t>
            </a:r>
            <a:br/>
            <a:br/>
            <a:r>
              <a:t>3. Commercial Governance:</a:t>
            </a:r>
            <a:br/>
            <a:r>
              <a:t>   Vendor accountability (SELLER_015, SELLER_053) and disciplined promotional discount structures provide immediate opportunities to preserve gross margins without depressing sales volume.</a:t>
            </a:r>
            <a:br/>
            <a:br/>
            <a:r>
              <a:t>4. Intelligence Layer Deployment:</a:t>
            </a:r>
            <a:br/>
            <a:r>
              <a:t>   A production ML decision pipeline scoring pre-dispatch risk allows proactive intervention (fit verification prompts, courier prioritization) before expensive fulfillment occurs.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1B365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Thank You. ShopVista Return Insight Diagnostic Complete. Ready for Management Discussion &amp;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